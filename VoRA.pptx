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9" r:id="rId15"/>
    <p:sldId id="269" r:id="rId16"/>
    <p:sldId id="280" r:id="rId17"/>
    <p:sldId id="270" r:id="rId18"/>
    <p:sldId id="282" r:id="rId19"/>
    <p:sldId id="271" r:id="rId20"/>
    <p:sldId id="283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84" r:id="rId29"/>
    <p:sldId id="281" r:id="rId3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E016A00E-853C-4095-8ABF-F1B29B4F551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79"/>
            <p14:sldId id="269"/>
            <p14:sldId id="280"/>
            <p14:sldId id="270"/>
            <p14:sldId id="282"/>
            <p14:sldId id="271"/>
            <p14:sldId id="283"/>
            <p14:sldId id="272"/>
            <p14:sldId id="273"/>
            <p14:sldId id="274"/>
            <p14:sldId id="275"/>
            <p14:sldId id="276"/>
            <p14:sldId id="277"/>
            <p14:sldId id="278"/>
            <p14:sldId id="284"/>
            <p14:sldId id="28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464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220744-C837-7082-1680-947B1F6850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7AB0A7F-5533-2526-DA39-2D3B1CD287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D570F8-E490-78E7-DED7-14F72495A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8ED16-D94A-4A5A-92E2-94B3D4690427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8893E6-0108-D188-CE8F-ECF20E681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83A98F-A3B5-361A-1F72-726EF513A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027A9-EA5D-4ED7-A27F-A041A4C537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1971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26A718-F5A5-20AB-FFFF-D1BC09876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52E85E-CDBC-A91A-7B28-5958F9830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8AFB81-1BBF-F4AB-EE98-12D9D78E5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8ED16-D94A-4A5A-92E2-94B3D4690427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A36854-9DB1-553D-0525-377515708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56FC97-B5DD-B15A-3614-2316D6692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027A9-EA5D-4ED7-A27F-A041A4C537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4150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56244C-EE9B-F7D5-EA8C-B79B2F611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342532-C69B-B393-CB98-E2DE9A8ED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B778EF-51A7-DD99-DAD4-A14349E54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8ED16-D94A-4A5A-92E2-94B3D4690427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5EEEB0-2F6A-9D01-8E53-0F4A340DA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458B07-6A3B-FE98-0EAA-E1EBECFBF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027A9-EA5D-4ED7-A27F-A041A4C537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2118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B7B00F-C418-4A41-BB7E-5D2079781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94F15E-DE37-DCB2-2FF4-10461074EA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C3BB84C-E2E7-1F90-38B8-7865C65506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7339D63-05E3-78D3-4EE0-AC8874215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8ED16-D94A-4A5A-92E2-94B3D4690427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4E4389-1D0E-9DEA-428E-3506BC05A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673F79-B13B-60F9-464F-1E39D9999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027A9-EA5D-4ED7-A27F-A041A4C537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2959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7543FA-735E-044C-BC6B-522AFB916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260707-2FDD-2B78-7D58-EB8DCB954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39411E1-C17C-18EE-4004-DDAE44F218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963E56F-8297-D2CD-FC39-EFD8D7C98C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CED2264-58E4-37F1-91F9-7E8B977936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9B3446B-6DE6-BBA5-D677-87C2CEC89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8ED16-D94A-4A5A-92E2-94B3D4690427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9955B05-2BB1-BE76-94D5-2B61920AD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098ED6C-5C61-FD25-0584-A7B90E931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027A9-EA5D-4ED7-A27F-A041A4C537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7284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F30086-4491-1AC7-8937-D43060D9D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2ED1D60-856A-73C1-A279-53BABB755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8ED16-D94A-4A5A-92E2-94B3D4690427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332399C-8574-41FC-9071-4D08457F1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98BA4FB-A19B-B9FF-03AA-BE6CB74F9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027A9-EA5D-4ED7-A27F-A041A4C537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670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6C8DBA4-C913-DCCA-BBF5-24BED22DC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8ED16-D94A-4A5A-92E2-94B3D4690427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AC35AC0-C03F-C9D7-0859-8388498FF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E1C9A6-DC96-20C6-32F2-14BF19036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027A9-EA5D-4ED7-A27F-A041A4C537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924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BC49AF-78B3-D2BC-7438-F5B383F7B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FA5E73-5A18-DECC-7CEF-358B4F67C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6BCDC3-651C-7A06-BB8B-9577448356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0FA38BE-2FB2-3E8D-94B6-624A820B7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8ED16-D94A-4A5A-92E2-94B3D4690427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7F7547-C0E1-8DDF-4846-14034FE18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B8AC9E3-CD4D-E7D0-5680-5AF46FE54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027A9-EA5D-4ED7-A27F-A041A4C537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52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E1C69C-CA28-71A6-06E1-4F2E5AE77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9A88D20-1E07-3E3C-A72D-64293FD90C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17EA2B-8A1A-70B9-B065-3D5C6362E8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81EB6EC-DB93-B439-FECC-7962CA5B2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8ED16-D94A-4A5A-92E2-94B3D4690427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85C812-B471-01D8-7BE8-2158AC206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FC96DFD-831C-8416-5CCC-435348873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027A9-EA5D-4ED7-A27F-A041A4C537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9310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053032-4E35-AB3E-17E2-5D9CF0271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AF32651-4F61-A800-413C-B1BA93258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D8C67A-6A6E-E5D7-576E-DF1689283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8ED16-D94A-4A5A-92E2-94B3D4690427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77E85F-0BE8-B6A6-9D9A-0F3DABFE8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651EB6-1D41-89F4-8449-C18DA1DD4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027A9-EA5D-4ED7-A27F-A041A4C537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834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461AAFA-F9A9-47AF-4391-E7EFC36674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87E238-1A34-7E06-12F3-893BA03014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418BF8-2148-720F-920F-557F1579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8ED16-D94A-4A5A-92E2-94B3D4690427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6B3E0A-1941-C407-00E3-98DFA9ECC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C783C7-EF1B-E8D0-02EA-1B680D377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027A9-EA5D-4ED7-A27F-A041A4C537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5538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F92D1BA-8732-CAFF-EE6F-836C0D07C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389D81-DC6D-980E-67C2-F1732CD89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F677D9-1AA4-56A9-82F2-93ED2B41D1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78ED16-D94A-4A5A-92E2-94B3D4690427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8223E3-E6F9-1415-F39A-7EC7718E4F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D00E26-FA71-8E55-E582-9CC18A224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B027A9-EA5D-4ED7-A27F-A041A4C537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305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D857A1-8D3F-3675-58CF-6A0819FBE0F1}"/>
              </a:ext>
            </a:extLst>
          </p:cNvPr>
          <p:cNvSpPr txBox="1"/>
          <p:nvPr/>
        </p:nvSpPr>
        <p:spPr>
          <a:xfrm>
            <a:off x="362139" y="488887"/>
            <a:ext cx="746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VoRA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D2FA6C-FDB4-B9D2-AC29-849394C8AB30}"/>
              </a:ext>
            </a:extLst>
          </p:cNvPr>
          <p:cNvSpPr txBox="1"/>
          <p:nvPr/>
        </p:nvSpPr>
        <p:spPr>
          <a:xfrm>
            <a:off x="1659636" y="1342382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입력에 따라 </a:t>
            </a:r>
            <a:r>
              <a:rPr lang="en-US" altLang="ko-KR" dirty="0"/>
              <a:t>adaptation </a:t>
            </a:r>
            <a:r>
              <a:rPr lang="ko-KR" altLang="en-US" dirty="0"/>
              <a:t>자체가 변하는 구조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CE6857-DC1F-A99A-E1C4-052B839D221A}"/>
              </a:ext>
            </a:extLst>
          </p:cNvPr>
          <p:cNvSpPr txBox="1"/>
          <p:nvPr/>
        </p:nvSpPr>
        <p:spPr>
          <a:xfrm>
            <a:off x="3049524" y="3105835"/>
            <a:ext cx="60990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/>
              <a:t>VoRA</a:t>
            </a:r>
            <a:r>
              <a:rPr lang="en-US" altLang="ko-KR" dirty="0"/>
              <a:t>: Adaptive Volterra Low-Rank Adaptation for Efficient Vision Fine-Tuning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9522452-9357-4B7C-40E4-4816B9C0C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8903" y="1473136"/>
            <a:ext cx="3143250" cy="47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011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4201F1-5DCF-3212-38A2-42415E6C9D0E}"/>
              </a:ext>
            </a:extLst>
          </p:cNvPr>
          <p:cNvSpPr txBox="1"/>
          <p:nvPr/>
        </p:nvSpPr>
        <p:spPr>
          <a:xfrm>
            <a:off x="932688" y="731520"/>
            <a:ext cx="5775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Dynamic Nonlinear PEFT </a:t>
            </a:r>
          </a:p>
          <a:p>
            <a:r>
              <a:rPr lang="en-US" altLang="ko-KR" dirty="0"/>
              <a:t>	: </a:t>
            </a:r>
            <a:r>
              <a:rPr lang="ko-KR" altLang="en-US" dirty="0"/>
              <a:t>입력에 따라 </a:t>
            </a:r>
            <a:r>
              <a:rPr lang="en-US" altLang="ko-KR" dirty="0"/>
              <a:t>adaptation </a:t>
            </a:r>
            <a:r>
              <a:rPr lang="ko-KR" altLang="en-US" dirty="0"/>
              <a:t>자체가 변하는 구조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B020F8C-F25F-A68F-4097-3A60FFD65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476" y="1866900"/>
            <a:ext cx="2085975" cy="1562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320045-C3F6-0627-1E6A-47364E1B85A2}"/>
              </a:ext>
            </a:extLst>
          </p:cNvPr>
          <p:cNvSpPr txBox="1"/>
          <p:nvPr/>
        </p:nvSpPr>
        <p:spPr>
          <a:xfrm>
            <a:off x="920496" y="3974592"/>
            <a:ext cx="38039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입력 별</a:t>
            </a:r>
            <a:endParaRPr lang="en-US" altLang="ko-KR" dirty="0"/>
          </a:p>
          <a:p>
            <a:r>
              <a:rPr lang="en-US" altLang="ko-KR" dirty="0"/>
              <a:t>Degradation </a:t>
            </a:r>
            <a:r>
              <a:rPr lang="ko-KR" altLang="en-US" dirty="0"/>
              <a:t>별</a:t>
            </a:r>
            <a:endParaRPr lang="en-US" altLang="ko-KR" dirty="0"/>
          </a:p>
          <a:p>
            <a:r>
              <a:rPr lang="en-US" altLang="ko-KR" dirty="0"/>
              <a:t>Token </a:t>
            </a:r>
            <a:r>
              <a:rPr lang="ko-KR" altLang="en-US" dirty="0"/>
              <a:t>별</a:t>
            </a:r>
            <a:endParaRPr lang="en-US" altLang="ko-KR" dirty="0"/>
          </a:p>
          <a:p>
            <a:r>
              <a:rPr lang="en-US" altLang="ko-KR" dirty="0"/>
              <a:t>=&gt; Nonlinear interaction</a:t>
            </a:r>
            <a:r>
              <a:rPr lang="ko-KR" altLang="en-US" dirty="0"/>
              <a:t>이 달라짐</a:t>
            </a:r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15ADC9-A463-1A91-44BC-4436912A8D0D}"/>
              </a:ext>
            </a:extLst>
          </p:cNvPr>
          <p:cNvSpPr txBox="1"/>
          <p:nvPr/>
        </p:nvSpPr>
        <p:spPr>
          <a:xfrm>
            <a:off x="3046476" y="5585198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Conditioned nonlinear adaptation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8295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A3B63-3E93-809B-CD48-0B5CDE221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A4B3BC-9A58-300A-69A0-9C13DFC9AE67}"/>
              </a:ext>
            </a:extLst>
          </p:cNvPr>
          <p:cNvSpPr txBox="1"/>
          <p:nvPr/>
        </p:nvSpPr>
        <p:spPr>
          <a:xfrm>
            <a:off x="932688" y="731520"/>
            <a:ext cx="41230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2. Low-rank Volterra Kernal</a:t>
            </a:r>
          </a:p>
          <a:p>
            <a:r>
              <a:rPr lang="en-US" altLang="ko-KR" dirty="0"/>
              <a:t>	: </a:t>
            </a:r>
            <a:r>
              <a:rPr lang="en-US" altLang="ko-KR" dirty="0" err="1"/>
              <a:t>volterra</a:t>
            </a:r>
            <a:r>
              <a:rPr lang="ko-KR" altLang="en-US" dirty="0"/>
              <a:t>는 원래 </a:t>
            </a:r>
            <a:r>
              <a:rPr lang="ko-KR" altLang="en-US" dirty="0" err="1"/>
              <a:t>계산량이</a:t>
            </a:r>
            <a:r>
              <a:rPr lang="ko-KR" altLang="en-US" dirty="0"/>
              <a:t> 큼</a:t>
            </a:r>
            <a:endParaRPr lang="en-US" altLang="ko-KR" dirty="0"/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altLang="ko-KR" dirty="0"/>
              <a:t>Efficient higher order adaptation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E8F981-0B8F-7FC8-D6A6-02F74710954F}"/>
              </a:ext>
            </a:extLst>
          </p:cNvPr>
          <p:cNvSpPr txBox="1"/>
          <p:nvPr/>
        </p:nvSpPr>
        <p:spPr>
          <a:xfrm>
            <a:off x="920496" y="3974592"/>
            <a:ext cx="34254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Seperable</a:t>
            </a:r>
            <a:endParaRPr lang="en-US" altLang="ko-KR" dirty="0"/>
          </a:p>
          <a:p>
            <a:r>
              <a:rPr lang="en-US" altLang="ko-KR" dirty="0"/>
              <a:t>Low-lank</a:t>
            </a:r>
          </a:p>
          <a:p>
            <a:r>
              <a:rPr lang="en-US" altLang="ko-KR" dirty="0"/>
              <a:t>factorized</a:t>
            </a:r>
          </a:p>
          <a:p>
            <a:r>
              <a:rPr lang="en-US" altLang="ko-KR" dirty="0"/>
              <a:t>=&gt; Volterra </a:t>
            </a:r>
            <a:r>
              <a:rPr lang="en-US" altLang="ko-KR" dirty="0" err="1"/>
              <a:t>kernal</a:t>
            </a:r>
            <a:r>
              <a:rPr lang="ko-KR" altLang="en-US" dirty="0"/>
              <a:t>을 만드는 것</a:t>
            </a:r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19EAD5-8003-76D6-C4A0-435B5602911F}"/>
              </a:ext>
            </a:extLst>
          </p:cNvPr>
          <p:cNvSpPr txBox="1"/>
          <p:nvPr/>
        </p:nvSpPr>
        <p:spPr>
          <a:xfrm>
            <a:off x="3046476" y="5585198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parameter-efficient nonlinear kernel adaptation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1D9C6B7-9B77-F968-26F6-6A9D7FF33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431" y="2090737"/>
            <a:ext cx="2381250" cy="84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302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E0176-F407-25D3-B28B-FAB64487E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0970B7-0995-F4A4-7EFB-C554E0783C77}"/>
              </a:ext>
            </a:extLst>
          </p:cNvPr>
          <p:cNvSpPr txBox="1"/>
          <p:nvPr/>
        </p:nvSpPr>
        <p:spPr>
          <a:xfrm>
            <a:off x="932688" y="731520"/>
            <a:ext cx="41388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3. Token interaction-aware PEFT</a:t>
            </a:r>
          </a:p>
          <a:p>
            <a:r>
              <a:rPr lang="en-US" altLang="ko-KR" dirty="0"/>
              <a:t>	: vision transformer</a:t>
            </a:r>
            <a:r>
              <a:rPr lang="ko-KR" altLang="en-US" dirty="0"/>
              <a:t>에서 강함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6017EF-04D8-D8B0-7BB1-25B62B8F398A}"/>
              </a:ext>
            </a:extLst>
          </p:cNvPr>
          <p:cNvSpPr txBox="1"/>
          <p:nvPr/>
        </p:nvSpPr>
        <p:spPr>
          <a:xfrm>
            <a:off x="920496" y="3974592"/>
            <a:ext cx="36583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Token-token interaction</a:t>
            </a:r>
          </a:p>
          <a:p>
            <a:r>
              <a:rPr lang="en-US" altLang="ko-KR" dirty="0"/>
              <a:t>Spatial coupling</a:t>
            </a:r>
          </a:p>
          <a:p>
            <a:r>
              <a:rPr lang="en-US" altLang="ko-KR" dirty="0"/>
              <a:t>Neighbor dependency</a:t>
            </a:r>
          </a:p>
          <a:p>
            <a:r>
              <a:rPr lang="en-US" altLang="ko-KR" dirty="0"/>
              <a:t>=&gt; </a:t>
            </a:r>
            <a:r>
              <a:rPr lang="ko-KR" altLang="en-US" dirty="0"/>
              <a:t>를 </a:t>
            </a:r>
            <a:r>
              <a:rPr lang="en-US" altLang="ko-KR" dirty="0"/>
              <a:t>adaptation</a:t>
            </a:r>
            <a:r>
              <a:rPr lang="ko-KR" altLang="en-US" dirty="0"/>
              <a:t>에 넣을 수 있음</a:t>
            </a:r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DC1AE9-5301-648C-00D9-62CDDCD17F33}"/>
              </a:ext>
            </a:extLst>
          </p:cNvPr>
          <p:cNvSpPr txBox="1"/>
          <p:nvPr/>
        </p:nvSpPr>
        <p:spPr>
          <a:xfrm>
            <a:off x="3046476" y="5585198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parameter-efficient nonlinear kernel adaptation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6EFB890-5ABE-25D4-1858-301F57A55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132" y="1691259"/>
            <a:ext cx="4648200" cy="230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712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6A46A-53F8-B0B5-CFE2-E67F5819B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3E413C-52C0-D4A5-6510-6B4517C28B1B}"/>
              </a:ext>
            </a:extLst>
          </p:cNvPr>
          <p:cNvSpPr txBox="1"/>
          <p:nvPr/>
        </p:nvSpPr>
        <p:spPr>
          <a:xfrm>
            <a:off x="932688" y="731520"/>
            <a:ext cx="51107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4. Adaptive Volterra routing</a:t>
            </a:r>
          </a:p>
          <a:p>
            <a:r>
              <a:rPr lang="en-US" altLang="ko-KR" dirty="0"/>
              <a:t>	: </a:t>
            </a:r>
            <a:r>
              <a:rPr lang="ko-KR" altLang="en-US" dirty="0"/>
              <a:t>입력마다 다른 </a:t>
            </a:r>
            <a:r>
              <a:rPr lang="en-US" altLang="ko-KR" dirty="0"/>
              <a:t>nonlinear PEFT</a:t>
            </a:r>
            <a:r>
              <a:rPr lang="ko-KR" altLang="en-US" dirty="0"/>
              <a:t>를 사용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6C4C57-EC8B-77FC-CB6A-F239FC0A79D5}"/>
              </a:ext>
            </a:extLst>
          </p:cNvPr>
          <p:cNvSpPr txBox="1"/>
          <p:nvPr/>
        </p:nvSpPr>
        <p:spPr>
          <a:xfrm>
            <a:off x="920496" y="3974592"/>
            <a:ext cx="2654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LoRA</a:t>
            </a:r>
            <a:r>
              <a:rPr lang="en-US" altLang="ko-KR" dirty="0"/>
              <a:t> + </a:t>
            </a:r>
            <a:r>
              <a:rPr lang="en-US" altLang="ko-KR" dirty="0" err="1"/>
              <a:t>MoE</a:t>
            </a:r>
            <a:r>
              <a:rPr lang="en-US" altLang="ko-KR" dirty="0"/>
              <a:t> + Volterra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ABF457-3530-5DC2-1C73-B105AE661A84}"/>
              </a:ext>
            </a:extLst>
          </p:cNvPr>
          <p:cNvSpPr txBox="1"/>
          <p:nvPr/>
        </p:nvSpPr>
        <p:spPr>
          <a:xfrm>
            <a:off x="687324" y="5274302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altLang="ko-KR" dirty="0"/>
              <a:t>Dynamic Nonlinear PEFT via Volterra Experts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227985C-A3AF-2B73-91AA-1E930C954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911" y="1551622"/>
            <a:ext cx="4695825" cy="174307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72BD0C1-0E07-9082-F31B-065A8FE18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226052"/>
            <a:ext cx="504825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703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EF6F7C-4F17-ED01-3EA7-E1AA262B9F16}"/>
              </a:ext>
            </a:extLst>
          </p:cNvPr>
          <p:cNvSpPr txBox="1"/>
          <p:nvPr/>
        </p:nvSpPr>
        <p:spPr>
          <a:xfrm>
            <a:off x="932688" y="731520"/>
            <a:ext cx="6875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Linear </a:t>
            </a:r>
            <a:r>
              <a:rPr lang="en-US" altLang="ko-KR" dirty="0" err="1"/>
              <a:t>LoRA</a:t>
            </a:r>
            <a:r>
              <a:rPr lang="ko-KR" altLang="en-US" dirty="0"/>
              <a:t>를 </a:t>
            </a: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/>
              <a:t> </a:t>
            </a:r>
            <a:r>
              <a:rPr lang="en-US" altLang="ko-KR" dirty="0" err="1"/>
              <a:t>nonlinear+dynamic+interaction-aware</a:t>
            </a:r>
            <a:r>
              <a:rPr lang="en-US" altLang="ko-KR" dirty="0"/>
              <a:t> PEFT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6AEA5E-3C79-2CC0-7D73-492BFE857ABF}"/>
              </a:ext>
            </a:extLst>
          </p:cNvPr>
          <p:cNvSpPr txBox="1"/>
          <p:nvPr/>
        </p:nvSpPr>
        <p:spPr>
          <a:xfrm>
            <a:off x="946404" y="1895852"/>
            <a:ext cx="609904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Input</a:t>
            </a:r>
            <a:r>
              <a:rPr lang="ko-KR" altLang="en-US" dirty="0"/>
              <a:t> </a:t>
            </a:r>
            <a:r>
              <a:rPr lang="ko-KR" altLang="en-US" dirty="0" err="1"/>
              <a:t>Feature</a:t>
            </a:r>
            <a:r>
              <a:rPr lang="ko-KR" altLang="en-US" dirty="0"/>
              <a:t> </a:t>
            </a:r>
            <a:r>
              <a:rPr lang="ko-KR" altLang="en-US" dirty="0" err="1"/>
              <a:t>x</a:t>
            </a:r>
            <a:endParaRPr lang="ko-KR" altLang="en-US" dirty="0"/>
          </a:p>
          <a:p>
            <a:r>
              <a:rPr lang="ko-KR" altLang="en-US" dirty="0"/>
              <a:t>        ↓</a:t>
            </a:r>
          </a:p>
          <a:p>
            <a:r>
              <a:rPr lang="ko-KR" altLang="en-US" dirty="0" err="1"/>
              <a:t>Feature</a:t>
            </a:r>
            <a:r>
              <a:rPr lang="ko-KR" altLang="en-US" dirty="0"/>
              <a:t> </a:t>
            </a:r>
            <a:r>
              <a:rPr lang="ko-KR" altLang="en-US" dirty="0" err="1"/>
              <a:t>Analysis</a:t>
            </a:r>
            <a:r>
              <a:rPr lang="ko-KR" altLang="en-US" dirty="0"/>
              <a:t> / </a:t>
            </a:r>
            <a:r>
              <a:rPr lang="ko-KR" altLang="en-US" dirty="0" err="1"/>
              <a:t>Routing</a:t>
            </a:r>
            <a:endParaRPr lang="ko-KR" altLang="en-US" dirty="0"/>
          </a:p>
          <a:p>
            <a:r>
              <a:rPr lang="ko-KR" altLang="en-US" dirty="0"/>
              <a:t>        ↓</a:t>
            </a:r>
          </a:p>
          <a:p>
            <a:r>
              <a:rPr lang="ko-KR" altLang="en-US" dirty="0" err="1"/>
              <a:t>Dynamic</a:t>
            </a:r>
            <a:r>
              <a:rPr lang="ko-KR" altLang="en-US" dirty="0"/>
              <a:t> </a:t>
            </a:r>
            <a:r>
              <a:rPr lang="ko-KR" altLang="en-US" dirty="0" err="1"/>
              <a:t>Volterra</a:t>
            </a:r>
            <a:r>
              <a:rPr lang="ko-KR" altLang="en-US" dirty="0"/>
              <a:t> </a:t>
            </a:r>
            <a:r>
              <a:rPr lang="ko-KR" altLang="en-US" dirty="0" err="1"/>
              <a:t>Expert</a:t>
            </a:r>
            <a:r>
              <a:rPr lang="ko-KR" altLang="en-US" dirty="0"/>
              <a:t> </a:t>
            </a:r>
            <a:r>
              <a:rPr lang="ko-KR" altLang="en-US" dirty="0" err="1"/>
              <a:t>Selection</a:t>
            </a:r>
            <a:endParaRPr lang="ko-KR" altLang="en-US" dirty="0"/>
          </a:p>
          <a:p>
            <a:r>
              <a:rPr lang="ko-KR" altLang="en-US" dirty="0"/>
              <a:t>        ↓</a:t>
            </a:r>
          </a:p>
          <a:p>
            <a:r>
              <a:rPr lang="ko-KR" altLang="en-US" dirty="0" err="1"/>
              <a:t>Low-rank</a:t>
            </a:r>
            <a:r>
              <a:rPr lang="ko-KR" altLang="en-US" dirty="0"/>
              <a:t> </a:t>
            </a:r>
            <a:r>
              <a:rPr lang="ko-KR" altLang="en-US" dirty="0" err="1"/>
              <a:t>Nonlinear</a:t>
            </a:r>
            <a:r>
              <a:rPr lang="ko-KR" altLang="en-US" dirty="0"/>
              <a:t> </a:t>
            </a:r>
            <a:r>
              <a:rPr lang="ko-KR" altLang="en-US" dirty="0" err="1"/>
              <a:t>Adaptation</a:t>
            </a:r>
            <a:endParaRPr lang="ko-KR" altLang="en-US" dirty="0"/>
          </a:p>
          <a:p>
            <a:r>
              <a:rPr lang="ko-KR" altLang="en-US" dirty="0"/>
              <a:t>        ↓</a:t>
            </a:r>
          </a:p>
          <a:p>
            <a:r>
              <a:rPr lang="ko-KR" altLang="en-US" dirty="0" err="1"/>
              <a:t>Interaction-aware</a:t>
            </a:r>
            <a:r>
              <a:rPr lang="ko-KR" altLang="en-US" dirty="0"/>
              <a:t> </a:t>
            </a:r>
            <a:r>
              <a:rPr lang="ko-KR" altLang="en-US" dirty="0" err="1"/>
              <a:t>Token</a:t>
            </a:r>
            <a:r>
              <a:rPr lang="ko-KR" altLang="en-US" dirty="0"/>
              <a:t> </a:t>
            </a:r>
            <a:r>
              <a:rPr lang="ko-KR" altLang="en-US" dirty="0" err="1"/>
              <a:t>Update</a:t>
            </a:r>
            <a:endParaRPr lang="ko-KR" altLang="en-US" dirty="0"/>
          </a:p>
          <a:p>
            <a:r>
              <a:rPr lang="ko-KR" altLang="en-US" dirty="0"/>
              <a:t>        ↓</a:t>
            </a:r>
          </a:p>
          <a:p>
            <a:r>
              <a:rPr lang="ko-KR" altLang="en-US" dirty="0" err="1"/>
              <a:t>Efficient</a:t>
            </a:r>
            <a:r>
              <a:rPr lang="ko-KR" altLang="en-US" dirty="0"/>
              <a:t> </a:t>
            </a:r>
            <a:r>
              <a:rPr lang="ko-KR" altLang="en-US" dirty="0" err="1"/>
              <a:t>Output</a:t>
            </a:r>
            <a:r>
              <a:rPr lang="ko-KR" altLang="en-US" dirty="0"/>
              <a:t> </a:t>
            </a:r>
            <a:r>
              <a:rPr lang="ko-KR" altLang="en-US" dirty="0" err="1"/>
              <a:t>Projection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0233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643B9-2EBF-7FFF-D0F0-BD246AC7D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E2B9ABD-C65F-6470-DE16-CE93B6AF2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879" y="284163"/>
            <a:ext cx="4238625" cy="31813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F6BF049-7418-72D8-EB1D-715B1B93F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275" y="399669"/>
            <a:ext cx="5800725" cy="28765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1A32D34-E40A-C9BA-1F92-ED104C0599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335" y="3557568"/>
            <a:ext cx="3983545" cy="330043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C68EF28-43FA-052E-B24F-8D8527A03B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689" y="3465513"/>
            <a:ext cx="3127439" cy="323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267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4FF86-8AA9-E54D-CA38-C41F16B91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35972D80-8183-65C0-460C-D0DE64F77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862" y="950913"/>
            <a:ext cx="4467225" cy="50292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8FDE5C5-9064-E854-64B6-C8B75FBC0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9146" y="488322"/>
            <a:ext cx="4953000" cy="21812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927CE79-8B8C-0B8D-55D6-8EB429C68F67}"/>
              </a:ext>
            </a:extLst>
          </p:cNvPr>
          <p:cNvSpPr txBox="1"/>
          <p:nvPr/>
        </p:nvSpPr>
        <p:spPr>
          <a:xfrm>
            <a:off x="6375400" y="3840953"/>
            <a:ext cx="57082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기존 </a:t>
            </a:r>
            <a:r>
              <a:rPr lang="en-US" altLang="ko-KR" dirty="0" err="1"/>
              <a:t>LoRA</a:t>
            </a:r>
            <a:r>
              <a:rPr lang="en-US" altLang="ko-KR" dirty="0"/>
              <a:t> : Static Linear update</a:t>
            </a:r>
          </a:p>
          <a:p>
            <a:r>
              <a:rPr lang="en-US" altLang="ko-KR" dirty="0" err="1"/>
              <a:t>VoRA</a:t>
            </a:r>
            <a:r>
              <a:rPr lang="en-US" altLang="ko-KR" dirty="0"/>
              <a:t> : Dynamic Nonlinear Interaction-aware Update</a:t>
            </a:r>
          </a:p>
        </p:txBody>
      </p:sp>
    </p:spTree>
    <p:extLst>
      <p:ext uri="{BB962C8B-B14F-4D97-AF65-F5344CB8AC3E}">
        <p14:creationId xmlns:p14="http://schemas.microsoft.com/office/powerpoint/2010/main" val="4033632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63C886-6D0C-787F-581B-3EC39B5BF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실제 구현 과정</a:t>
            </a:r>
          </a:p>
        </p:txBody>
      </p:sp>
    </p:spTree>
    <p:extLst>
      <p:ext uri="{BB962C8B-B14F-4D97-AF65-F5344CB8AC3E}">
        <p14:creationId xmlns:p14="http://schemas.microsoft.com/office/powerpoint/2010/main" val="3941435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8E23226-3126-123B-84A4-D1FF0C414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48" y="287464"/>
            <a:ext cx="5943600" cy="36861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BFC5E23-E026-A336-FF30-634296EE7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374" y="771334"/>
            <a:ext cx="4762500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678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1793E7E-3058-5408-CF07-F9CF4C091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934"/>
            <a:ext cx="5934075" cy="36480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812BD2A-A096-9706-E8EE-0CE561D4A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880" y="412814"/>
            <a:ext cx="5553456" cy="27925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BCAB882-048D-3D5B-B97C-A7A3A8E421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102" y="4001452"/>
            <a:ext cx="5095875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30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3988EDE-4D6F-5837-A2F2-EDDD41AB9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618" y="161353"/>
            <a:ext cx="5476875" cy="31337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0E4CD61-5B27-9880-CC9C-DA370A794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879" y="602171"/>
            <a:ext cx="5228273" cy="2508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691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0461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EF606-691E-B5AB-AEBE-884C3B256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B0A4B70-C729-561C-DBCE-6B0476DF7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64" y="311416"/>
            <a:ext cx="2766791" cy="39836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FF6233B-2C17-BEEC-1A0D-4125FF523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0026" y="262448"/>
            <a:ext cx="7353300" cy="40195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56FEAE7-3662-3BC0-83A1-1F68B82ECB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525" y="803652"/>
            <a:ext cx="6467475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229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771D2-2274-7E3A-3278-68A61FFC2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1109EA-B662-B492-ECF4-921D1E3397AD}"/>
              </a:ext>
            </a:extLst>
          </p:cNvPr>
          <p:cNvSpPr txBox="1"/>
          <p:nvPr/>
        </p:nvSpPr>
        <p:spPr>
          <a:xfrm>
            <a:off x="512064" y="713232"/>
            <a:ext cx="2961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Table 1 </a:t>
            </a:r>
            <a:r>
              <a:rPr lang="en-US" altLang="ko-KR" b="1" dirty="0"/>
              <a:t>Main Comparison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EAE4590-7D47-F8BB-B108-F631BCA17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078" y="1743075"/>
            <a:ext cx="7200900" cy="33718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5DCF63-AFE9-8A72-D820-9F827CCFD603}"/>
              </a:ext>
            </a:extLst>
          </p:cNvPr>
          <p:cNvSpPr txBox="1"/>
          <p:nvPr/>
        </p:nvSpPr>
        <p:spPr>
          <a:xfrm>
            <a:off x="3992078" y="715296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dirty="0">
                <a:solidFill>
                  <a:srgbClr val="1A1C1F"/>
                </a:solidFill>
                <a:effectLst/>
                <a:latin typeface="-apple-system"/>
              </a:rPr>
              <a:t>Rain100H, CSD, GoPro, RESIDE-6K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3178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2C1D2-32B9-16CF-3324-495EF0E92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D103A9-83B6-22A0-C319-90A85DE44D49}"/>
              </a:ext>
            </a:extLst>
          </p:cNvPr>
          <p:cNvSpPr txBox="1"/>
          <p:nvPr/>
        </p:nvSpPr>
        <p:spPr>
          <a:xfrm>
            <a:off x="512064" y="713232"/>
            <a:ext cx="2961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Table 1 </a:t>
            </a:r>
            <a:r>
              <a:rPr lang="en-US" altLang="ko-KR" b="1"/>
              <a:t>Main Comparison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768B1BD-06BE-C397-B9B4-F6433B9D1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47" y="1441633"/>
            <a:ext cx="6505575" cy="37052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116384-F2D1-3819-0177-281D027E1DE9}"/>
              </a:ext>
            </a:extLst>
          </p:cNvPr>
          <p:cNvSpPr txBox="1"/>
          <p:nvPr/>
        </p:nvSpPr>
        <p:spPr>
          <a:xfrm>
            <a:off x="2723827" y="5744421"/>
            <a:ext cx="60985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Table</a:t>
            </a:r>
            <a:r>
              <a:rPr lang="ko-KR" altLang="en-US" dirty="0"/>
              <a:t> 1 확장판은 </a:t>
            </a:r>
            <a:r>
              <a:rPr lang="ko-KR" altLang="en-US" dirty="0" err="1"/>
              <a:t>Adapter</a:t>
            </a:r>
            <a:r>
              <a:rPr lang="ko-KR" altLang="en-US" dirty="0"/>
              <a:t> / </a:t>
            </a:r>
            <a:r>
              <a:rPr lang="ko-KR" altLang="en-US" dirty="0" err="1"/>
              <a:t>VoRA-full</a:t>
            </a:r>
            <a:r>
              <a:rPr lang="ko-KR" altLang="en-US" dirty="0"/>
              <a:t> / LPIPS 추가 후 </a:t>
            </a:r>
            <a:r>
              <a:rPr lang="ko-KR" altLang="en-US" dirty="0" err="1"/>
              <a:t>재실험</a:t>
            </a:r>
            <a:r>
              <a:rPr lang="ko-KR" altLang="en-US" dirty="0"/>
              <a:t> 필요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83E4AA5-9279-DE75-D6B7-9C1B8FF7C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365" y="1502042"/>
            <a:ext cx="4362450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1845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F7272-A36B-7C60-A00C-6543B895F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B38699-927D-8587-6C3F-B93F50CADEC6}"/>
              </a:ext>
            </a:extLst>
          </p:cNvPr>
          <p:cNvSpPr txBox="1"/>
          <p:nvPr/>
        </p:nvSpPr>
        <p:spPr>
          <a:xfrm>
            <a:off x="512064" y="713232"/>
            <a:ext cx="3249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Table 2. Task Generalization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FAA1E73-C9D4-C22A-EC1F-AB63F2032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18" y="2159317"/>
            <a:ext cx="7124700" cy="2905125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3510FDC-2C2D-D0FF-A4DA-B671EADC02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377742"/>
              </p:ext>
            </p:extLst>
          </p:nvPr>
        </p:nvGraphicFramePr>
        <p:xfrm>
          <a:off x="4317465" y="515611"/>
          <a:ext cx="4673600" cy="599440"/>
        </p:xfrm>
        <a:graphic>
          <a:graphicData uri="http://schemas.openxmlformats.org/drawingml/2006/table">
            <a:tbl>
              <a:tblPr/>
              <a:tblGrid>
                <a:gridCol w="4673600">
                  <a:extLst>
                    <a:ext uri="{9D8B030D-6E8A-4147-A177-3AD203B41FA5}">
                      <a16:colId xmlns:a16="http://schemas.microsoft.com/office/drawing/2014/main" val="13515467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US" dirty="0">
                          <a:effectLst/>
                        </a:rPr>
                      </a:br>
                      <a:r>
                        <a:rPr lang="en-US" dirty="0">
                          <a:effectLst/>
                        </a:rPr>
                        <a:t>Rain100H, CSD, SIDD, GoPro, RESIDE-6K</a:t>
                      </a:r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409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9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9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9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65954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FF1B132D-50E9-9E11-B7EE-44240157B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56246"/>
            <a:ext cx="5353050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0738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014A9-BBB2-3554-D583-B72851D1E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91BE9F-5C3D-B5CE-4C6F-396AFDEE181A}"/>
              </a:ext>
            </a:extLst>
          </p:cNvPr>
          <p:cNvSpPr txBox="1"/>
          <p:nvPr/>
        </p:nvSpPr>
        <p:spPr>
          <a:xfrm>
            <a:off x="512064" y="713232"/>
            <a:ext cx="3249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Table 2. Task Generalization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442945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5666B-E86B-0419-E7DE-59D798E55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AA08CB-A7AB-1834-CF69-F1943C87F4BF}"/>
              </a:ext>
            </a:extLst>
          </p:cNvPr>
          <p:cNvSpPr txBox="1"/>
          <p:nvPr/>
        </p:nvSpPr>
        <p:spPr>
          <a:xfrm>
            <a:off x="213364" y="215392"/>
            <a:ext cx="5882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Table 3. Comparison with SOTA Restoration Models</a:t>
            </a:r>
            <a:endParaRPr lang="en-US" altLang="ko-KR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A2B06ED-E81E-3DD4-4026-DB7393754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535" y="822843"/>
            <a:ext cx="7086600" cy="612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0781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77C1F-2BC9-A147-2CD8-C1492B194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95261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F1CE9-B2B9-3ED4-82D9-3E3190FCC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222B37-D3D1-B85F-4876-7730B12FEF43}"/>
              </a:ext>
            </a:extLst>
          </p:cNvPr>
          <p:cNvSpPr txBox="1"/>
          <p:nvPr/>
        </p:nvSpPr>
        <p:spPr>
          <a:xfrm>
            <a:off x="367685" y="337847"/>
            <a:ext cx="3843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Table 4. Backbone Generalization</a:t>
            </a:r>
            <a:endParaRPr lang="en-US" altLang="ko-KR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F9DF3FA-C42F-C949-BA62-1208D5F68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901" y="968542"/>
            <a:ext cx="314325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2278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76860-B7B2-7F08-3A27-38F5643B8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EAA4CC-6CE1-2CB4-58C2-904E577FDA56}"/>
              </a:ext>
            </a:extLst>
          </p:cNvPr>
          <p:cNvSpPr txBox="1"/>
          <p:nvPr/>
        </p:nvSpPr>
        <p:spPr>
          <a:xfrm>
            <a:off x="386936" y="328222"/>
            <a:ext cx="3415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Table 5. Component Ablation</a:t>
            </a: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39C3629-D856-39F6-5314-C017BF4DB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44" y="1057376"/>
            <a:ext cx="2952750" cy="659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5366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15EBE-D0DC-D17B-9135-D30EBD13C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312D1C-1F52-D73E-BF8B-A5EB728DFC30}"/>
              </a:ext>
            </a:extLst>
          </p:cNvPr>
          <p:cNvSpPr txBox="1"/>
          <p:nvPr/>
        </p:nvSpPr>
        <p:spPr>
          <a:xfrm>
            <a:off x="396561" y="222343"/>
            <a:ext cx="4126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Table 6. Insertion Location Ablation</a:t>
            </a: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0F912AE-554C-F11A-18CA-1B14C6B6D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92" y="680402"/>
            <a:ext cx="3533775" cy="639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9739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886A5-0C5B-1499-34F7-C38EF156E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9BF139-6300-E609-109F-EEAFB2654B4F}"/>
              </a:ext>
            </a:extLst>
          </p:cNvPr>
          <p:cNvSpPr txBox="1"/>
          <p:nvPr/>
        </p:nvSpPr>
        <p:spPr>
          <a:xfrm>
            <a:off x="430784" y="235712"/>
            <a:ext cx="2673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Table 7. Rank Ablation</a:t>
            </a: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0F7BBDA-64FD-A24A-F0E4-C3B439741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06" y="802640"/>
            <a:ext cx="22704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9819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83864-924E-8948-AEC4-FB58BEC87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E8B8A5-6E92-20F8-C773-7A239294B3AC}"/>
              </a:ext>
            </a:extLst>
          </p:cNvPr>
          <p:cNvSpPr txBox="1"/>
          <p:nvPr/>
        </p:nvSpPr>
        <p:spPr>
          <a:xfrm>
            <a:off x="268224" y="195072"/>
            <a:ext cx="3818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Table 8. Expert Number Ablation</a:t>
            </a: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FB9EABE-7341-CD76-7D6D-77D1BA492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1155382"/>
            <a:ext cx="2857500" cy="661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0252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0469F-31A3-45AB-9CE8-7283419B5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D68108-DF14-FA9C-D91E-B71618DE8B9F}"/>
              </a:ext>
            </a:extLst>
          </p:cNvPr>
          <p:cNvSpPr txBox="1"/>
          <p:nvPr/>
        </p:nvSpPr>
        <p:spPr>
          <a:xfrm>
            <a:off x="278384" y="245872"/>
            <a:ext cx="4048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Table 9. Token Interaction Ablation</a:t>
            </a: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3818B4B-1D70-62C5-5012-8AC2E4FE2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66" y="1005840"/>
            <a:ext cx="29686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4040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65FCC-78C6-F792-BE77-315632042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AE2C6C-BA17-0D3C-884F-FFBA40F0C274}"/>
              </a:ext>
            </a:extLst>
          </p:cNvPr>
          <p:cNvSpPr txBox="1"/>
          <p:nvPr/>
        </p:nvSpPr>
        <p:spPr>
          <a:xfrm>
            <a:off x="369824" y="164592"/>
            <a:ext cx="3689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Table 10. Efficiency Comparison</a:t>
            </a:r>
            <a:endParaRPr lang="en-US" altLang="ko-KR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568706C-B709-6325-3C6F-19CBDC34D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665" y="784860"/>
            <a:ext cx="3409950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1418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F7C91-95E4-4AD1-5726-B95579674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E4FE9C-043B-D758-170A-635E6AD39838}"/>
              </a:ext>
            </a:extLst>
          </p:cNvPr>
          <p:cNvSpPr txBox="1"/>
          <p:nvPr/>
        </p:nvSpPr>
        <p:spPr>
          <a:xfrm>
            <a:off x="369824" y="164592"/>
            <a:ext cx="4596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Optional Table 11. Degradation Severity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0731122-510F-A30B-CD86-AD8ADAC28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997" y="1265129"/>
            <a:ext cx="24620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1036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F5C0098-108D-510A-E2AF-69E288D2E8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490" y="200660"/>
            <a:ext cx="9685020" cy="645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479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3138</TotalTime>
  <Words>277</Words>
  <Application>Microsoft Office PowerPoint</Application>
  <PresentationFormat>와이드스크린</PresentationFormat>
  <Paragraphs>60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5" baseType="lpstr">
      <vt:lpstr>-apple-system</vt:lpstr>
      <vt:lpstr>Arial</vt:lpstr>
      <vt:lpstr>Symbol</vt:lpstr>
      <vt:lpstr>Wingdings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실제 구현 과정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YoonSeungHyun</dc:creator>
  <cp:lastModifiedBy>YoonSeungHyun</cp:lastModifiedBy>
  <cp:revision>98</cp:revision>
  <dcterms:created xsi:type="dcterms:W3CDTF">2026-05-06T03:45:31Z</dcterms:created>
  <dcterms:modified xsi:type="dcterms:W3CDTF">2026-05-08T08:03:46Z</dcterms:modified>
</cp:coreProperties>
</file>